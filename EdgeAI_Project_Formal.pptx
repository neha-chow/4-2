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A3A3A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3A3A3A"/>
                </a:solidFill>
                <a:latin typeface="Arial"/>
              </a:rPr>
              <a:t>Per-Class Live Inference 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Live Accuracy (%)</c:v>
                </c:pt>
              </c:strCache>
            </c:strRef>
          </c:tx>
          <c:spPr>
            <a:solidFill>
              <a:srgbClr val="5A7DA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33D-47BA-B426-6E8392936573}"/>
              </c:ext>
            </c:extLst>
          </c:dPt>
          <c:dPt>
            <c:idx val="1"/>
            <c:invertIfNegative val="0"/>
            <c:bubble3D val="0"/>
            <c:spPr>
              <a:solidFill>
                <a:srgbClr val="7B98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33D-47BA-B426-6E8392936573}"/>
              </c:ext>
            </c:extLst>
          </c:dPt>
          <c:dPt>
            <c:idx val="2"/>
            <c:invertIfNegative val="0"/>
            <c:bubble3D val="0"/>
            <c:spPr>
              <a:solidFill>
                <a:srgbClr val="9DB3C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33D-47BA-B426-6E8392936573}"/>
              </c:ext>
            </c:extLst>
          </c:dPt>
          <c:dPt>
            <c:idx val="3"/>
            <c:invertIfNegative val="0"/>
            <c:bubble3D val="0"/>
            <c:spPr>
              <a:solidFill>
                <a:srgbClr val="A8BFD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33D-47BA-B426-6E839293657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2D2D2D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Normal
(noise)</c:v>
                </c:pt>
                <c:pt idx="1">
                  <c:v>Knock
(highcough)</c:v>
                </c:pt>
                <c:pt idx="2">
                  <c:v>Bearing
(sneeze)</c:v>
                </c:pt>
                <c:pt idx="3">
                  <c:v>Misalignment
(snoring)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</c:v>
                </c:pt>
                <c:pt idx="1">
                  <c:v>94</c:v>
                </c:pt>
                <c:pt idx="2">
                  <c:v>95</c:v>
                </c:pt>
                <c:pt idx="3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33D-47BA-B426-6E83929365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6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8812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Sreenidhi Institute of Science and Technology, Hyderabad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&amp; Communication Engineering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(TinyML) Based Condition Monitoring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Fault Detection of Engines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MEMS Sensors and ESP32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28346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Project Report  |  B.Tech ECE  |  2025–2026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73075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Bollagoni Pavan Kumar  (22311A04F7)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98678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KothiRithish  (22311A04F6)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24281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Enaganti Neha  (22311A04F0)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3474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37307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Shruthi Bargav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98678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Dept. of ECE, SNIST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faults such as rotor imbalance, shaft misalignment, and bearing wear cause costly unplanned industrial downtime — early detection through continuous monitoring is critical for both safety and production continuity.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cloud-based monitoring systems suffer from high latency (1–5 seconds), excessive bandwidth consumption, and complete operational failure during network outages.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deploys a TinyML neural network classifier on a Seeed XIAO ESP32-S3 microcontroller, using an INMP441 MEMS microphone for real-time, on-device acoustic fault classification.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features (13 cepstral coefficients, 728-element vector) are extracted from 1-second audio windows and classified into four engine states: Normal, Knock/Misfire, Pressure Anomaly, and Bearing Wear.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EON Compiler quantised model achieves 81.3% validation accuracy, 93–96% live test accuracy, 3 ms inference time, and 46.2 KB flash footprint — entirely without cloud connectivity.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332841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Limitation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Gultekin et al., Sensors 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cost, high latency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TinyML-Edge CNN, Ex. Sys. 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STM32H7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~65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Higher-spec MCU required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 et al., IEEE TII 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 Cortex-M4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power analysis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Bhushan et al., Sci. Rep.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ESP32-S3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EON optimisation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Hymel et al., arXiv 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Impulse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description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Warden &amp; Situnayake, 2020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Various MCUs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Foundational 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20624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5902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complete, validated end-to-end TinyML pipeline on ESP32-class microcontrollers with published on-device hardware measurements, power analysis, and comparison against related works.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12480" y="486460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804672"/>
            <a:ext cx="7909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real-time acoustic sensor node using INMP441 MEMS microphone and XIAO ESP32-S3 for continuous engine signal capture at 16 kHz sampling rate.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26464"/>
            <a:ext cx="8229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517904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517904"/>
            <a:ext cx="7909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curate a labelled dataset of four engine fault classes using the Edge Impulse data acquisition pipeline.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39696"/>
            <a:ext cx="8229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2231136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231136"/>
            <a:ext cx="7909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an MFCC DSP pipeline (13 coefficients, 32 Mel filters, 512-pt FFT) producing a 728-element feature vector per 1-second window.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852928"/>
            <a:ext cx="8229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" y="2944368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944368"/>
            <a:ext cx="7909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train a compact dense neural network (128→64→32) achieving over 80% validation accuracy within ESP32 memory constraints.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657600"/>
            <a:ext cx="7909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via the EON Compiler with int8 quantisation targeting less than 50 KB flash, 15 KB RAM, and 10 ms inference latency.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279392"/>
            <a:ext cx="82296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57200" y="4370832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4370832"/>
            <a:ext cx="79095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deployed system against classification accuracy, on-device latency, memory usage, power consumption, and four published benchmark works.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0" y="486460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System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3840480" cy="4069080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Phase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Impulse Cloud Platform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4360" y="1444752"/>
            <a:ext cx="3566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Data Acquisition via Wi-Fi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920240"/>
            <a:ext cx="3566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85800" y="19385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Dataset Management &amp; QA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395728"/>
            <a:ext cx="3566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85800" y="241401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Impulse Design (Audio Input)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2871216"/>
            <a:ext cx="3566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85800" y="288950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MFCC DSP Configuration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346704"/>
            <a:ext cx="3566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85800" y="33649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Neural Network Training (100 epochs)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822192"/>
            <a:ext cx="3566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85800" y="38404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EON Compiler Arduino Library Export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2834640"/>
            <a:ext cx="54864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251960" y="26060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846320" y="777240"/>
            <a:ext cx="3840480" cy="4069080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46320" y="8046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Phase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11155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XIAO ESP32-S3 — No Internet Required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83480" y="1444752"/>
            <a:ext cx="3566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074920" y="14630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I2S DMA Audio Capture (16 kHz)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83480" y="1920240"/>
            <a:ext cx="3566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74920" y="19385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MFCC Feature Extraction (~350 ms)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83480" y="2395728"/>
            <a:ext cx="3566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074920" y="241401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TinyML Neural Network Inference (3 ms)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83480" y="2871216"/>
            <a:ext cx="3566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074920" y="288950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Confidence Threshold Check (0.6)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83480" y="3346704"/>
            <a:ext cx="3566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074920" y="336499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OLED Display Update (500 ms cycle)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83480" y="3822192"/>
            <a:ext cx="35661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074920" y="38404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Optional MQTT / Wi-Fi Status Upload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412480" y="486460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Hardware &amp; Feature Extraction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Components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023360" cy="14630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XIAO ESP32-S3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 LX7 @ 240 MHz, 8 MB flash/PSRAM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INMP441 MEMS Mic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I2S, 61 dBFS SNR, 60 Hz–15 kHz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SSD1306 OLED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128×64 px, I2C, ~10 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LiPo Battery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 V, 1200 mAh, ~10 hrs runtime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EON Compiler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46.2 KB flash, 12.5 KB RAM, 3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337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hardware cost: approximately 2,000 rupees</a:t>
            </a:r>
            <a:endParaRPr lang="en-US" sz="1000" dirty="0"/>
          </a:p>
        </p:txBody>
      </p:sp>
      <p:sp>
        <p:nvSpPr>
          <p:cNvPr id="5" name="Text 4"/>
          <p:cNvSpPr/>
          <p:nvPr/>
        </p:nvSpPr>
        <p:spPr>
          <a:xfrm>
            <a:off x="4754880" y="749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Processing Pipeline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078992"/>
            <a:ext cx="3931920" cy="56692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828032" y="1078992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212080" y="10972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Pre-Emphasis Filter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212080" y="135331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High-pass (α=0.97)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1737360"/>
            <a:ext cx="3931920" cy="56692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828032" y="1737360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212080" y="175564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STFT + Hamming Window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212080" y="20116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512-pt FFT, 20 ms frames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54880" y="2395728"/>
            <a:ext cx="3931920" cy="56692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828032" y="2395728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212080" y="241401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Mel Filterbank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212080" y="26700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frequency scaling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54880" y="3054096"/>
            <a:ext cx="3931920" cy="56692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4828032" y="3054096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212080" y="307238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Compression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212080" y="332841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range reduction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754880" y="3712464"/>
            <a:ext cx="3931920" cy="566928"/>
          </a:xfrm>
          <a:prstGeom prst="rect">
            <a:avLst/>
          </a:prstGeom>
          <a:solidFill>
            <a:srgbClr val="F7F7F7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4828032" y="3712464"/>
            <a:ext cx="320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212080" y="373075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 → 13 Coefficients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212080" y="398678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728-element feature vector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MFCC Parameters</a:t>
            </a:r>
            <a:endParaRPr lang="en-US" sz="11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434016"/>
              </p:ext>
            </p:extLst>
          </p:nvPr>
        </p:nvGraphicFramePr>
        <p:xfrm>
          <a:off x="457200" y="3977640"/>
          <a:ext cx="4206241" cy="1127760"/>
        </p:xfrm>
        <a:graphic>
          <a:graphicData uri="http://schemas.openxmlformats.org/drawingml/2006/table">
            <a:tbl>
              <a:tblPr/>
              <a:tblGrid>
                <a:gridCol w="1353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38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58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Coefficients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 Filters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FFT Length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pts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 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0–8 kHz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Vector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728 values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" name="Text 26"/>
          <p:cNvSpPr/>
          <p:nvPr/>
        </p:nvSpPr>
        <p:spPr>
          <a:xfrm>
            <a:off x="8412480" y="486460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Neural Network &amp; Deployment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Architecture  (~110,000 parameters)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463040" cy="1005840"/>
          </a:xfrm>
          <a:prstGeom prst="rect">
            <a:avLst/>
          </a:prstGeom>
          <a:solidFill>
            <a:srgbClr val="3D5A80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20240" y="1600200"/>
            <a:ext cx="201168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121408" y="1097280"/>
            <a:ext cx="1463040" cy="1005840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121408" y="109728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· ReLU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25%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84448" y="1600200"/>
            <a:ext cx="201168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785616" y="1097280"/>
            <a:ext cx="1463040" cy="1005840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785616" y="109728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· ReLU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48656" y="1600200"/>
            <a:ext cx="201168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449824" y="1097280"/>
            <a:ext cx="1463040" cy="1005840"/>
          </a:xfrm>
          <a:prstGeom prst="rect">
            <a:avLst/>
          </a:prstGeom>
          <a:solidFill>
            <a:srgbClr val="F7F7F7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49824" y="109728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· ReLU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12864" y="1600200"/>
            <a:ext cx="201168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114032" y="1097280"/>
            <a:ext cx="1463040" cy="1005840"/>
          </a:xfrm>
          <a:prstGeom prst="rect">
            <a:avLst/>
          </a:prstGeom>
          <a:solidFill>
            <a:srgbClr val="3D5A80"/>
          </a:solidFill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114032" y="1097280"/>
            <a:ext cx="1463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Softmax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331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633472"/>
          <a:ext cx="3931920" cy="17068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 (LR 0.005)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Function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Cross-Entropy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 on first hidden layer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Augmentation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4754880" y="2331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EON Compiler Deployment</a:t>
            </a:r>
            <a:endParaRPr lang="en-US" sz="1100" dirty="0"/>
          </a:p>
        </p:txBody>
      </p:sp>
      <p:graphicFrame>
        <p:nvGraphicFramePr>
          <p:cNvPr id="2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633472"/>
          <a:ext cx="3931920" cy="170688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Usage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46.2 KB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 KB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Flash vs. TFLite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 reduction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 vs. TFLite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 reduction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1% degradation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" name="Text 19"/>
          <p:cNvSpPr/>
          <p:nvPr/>
        </p:nvSpPr>
        <p:spPr>
          <a:xfrm>
            <a:off x="8412480" y="486460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Accuracy: 81.3%    |    AUC-ROC: 0.85    |    Precision: 0.82    |    Recall: 0.81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097280"/>
          <a:ext cx="475488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0" y="1097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F1 Scores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0" y="1417320"/>
          <a:ext cx="3200400" cy="1295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(noise)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Knock (highcough)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 (sneeze)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Bearing (snoring)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0" y="30632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sneeze class F1 = 0.50 due to only 8 training samples.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to exceed 0.75 with 30+ samples collected.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detection latency: ~500 ms  |  Inference: 3 ms  |  Flash: 46.2 KB  |  RAM: 12.5 KB  |  Battery: ~10 hrs continuous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8412480" y="486460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Comparison with Published Works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2852928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Gultekin et al., 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Raspberry Pi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TinyML-Edge CNN, 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STM32H7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~65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 et al., 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ARM Cortex-M4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Bhushan et al.,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ESP32-S3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XIAO ESP32-S3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94.5% (live)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~INR 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9476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206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reported inference latency (3 ms) among all compared works on any embedded platform.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live test accuracy (94.5%) achieved on ESP32-class microcontroller hardware.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cost 15–200 times lower than equivalent commercial vibration monitoring solutions.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12480" y="486460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274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078992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TinyML pipeline successfully deployed and validated on real XIAO ESP32-S3 hardware — 81.3% validation accuracy, 93–96% live test accuracy, with all metrics measured on actual hardware.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00784"/>
            <a:ext cx="274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700784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EON Compiler achieves 3 ms inference — 5 times faster than standard TFLite — the ESP32 spends just 0.6% of its cycle time on neural network computation.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22576"/>
            <a:ext cx="274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322576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model occupies 46.2 KB flash and 12.5 KB RAM, with total system draw of 96 mA enabling 10–11 hours continuous monitoring from a 1200 mAh LiPo battery.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944368"/>
            <a:ext cx="274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94436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hardware cost of approximately 2,000 rupees — 15 to 200 times lower than commercial vibration monitoring solutions — makes fleet-scale predictive maintenance economically viable.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37307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00507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fusion — integrate MPU-6050 accelerometer for vibration + acoustic combined classification.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dataset — target 500+ samples per class across multiple motor types and operating conditions.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Over-the-air firmware updates and industrial protocol integration (Modbus TCP, OPC-UA, MQTT).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0" y="486460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 Bhushan C. M. et al., "Deploying TinyML for Energy-Efficient Object Detection," Scientific Reports, vol. 15, 2025.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 Gultekin O. et al., "Real-Time Fault Detection Using Edge AI," Sensors, vol. 22, no. 14, 2022.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 Hymel S. et al., "Edge Impulse: An MLOps Platform for Tiny Machine Learning," arXiv:2212.03332, 2022.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 Zhang X. et al., "Hardware-Algorithm Co-Design for Efficient TinyML Systems," ACM TECS, 2022.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 Ma S. et al., "Privacy-Preserving Anomaly Detection in Industrial Systems Using Edge AI," IEEE TII, vol. 18, 2022.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 Warden P. and Situnayake D., TinyML — O'Reilly Media, 2020.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 Randall R. B. and Antoni J., "Rolling Element Bearing Diagnostics," Mech. Syst. Signal Process., vol. 25, 2011.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 David R. et al., "TensorFlow Lite Micro: Embedded ML on TinyML Systems," MLSys, vol. 3, 2021.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 Shi W. et al., "Edge Computing: Vision and Challenges," IEEE IoT Journal, vol. 3, no. 5, 2016.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Xu C. et al., "On-Device Learning for Edge AI: A Survey," IEEE Access, vol. 10, 2022.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434840"/>
            <a:ext cx="8229600" cy="0"/>
          </a:xfrm>
          <a:prstGeom prst="line">
            <a:avLst/>
          </a:prstGeom>
          <a:noFill/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0" y="45262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welcome your questions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4864608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1600</Words>
  <Application>Microsoft Office PowerPoint</Application>
  <PresentationFormat>On-screen Show (16:9)</PresentationFormat>
  <Paragraphs>279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Edge AI Engine Monitoring — Major Project Review</dc:title>
  <dc:subject>PptxGenJS Presentation</dc:subject>
  <dc:creator>PptxGenJS</dc:creator>
  <cp:lastModifiedBy>Neha, Enaganti (Contractor)</cp:lastModifiedBy>
  <cp:revision>2</cp:revision>
  <dcterms:created xsi:type="dcterms:W3CDTF">2026-04-22T12:11:47Z</dcterms:created>
  <dcterms:modified xsi:type="dcterms:W3CDTF">2026-04-22T12:28:18Z</dcterms:modified>
</cp:coreProperties>
</file>